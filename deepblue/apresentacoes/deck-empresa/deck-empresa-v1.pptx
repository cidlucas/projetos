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Uma frase: a Deep Blue existe para PMEs que já rodam bem e querem render mais. Nosso ponto de partida é sempre o negócio; a IA entra depois, como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as duas frentes como complementares: Labs é o produto contínuo, Consulting é a porta de entrada. Muitos clientes começam no diagnóstico e viram assinante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Itaú/Locomotiva, Sebrae (2024-2025). O dono de PME decide sozinho em 5 áreas; a Deep Blue existe pra tirar peso das costas dele. '90% dos líderes de PMEs tomam decisões sozinhos em 5 áreas diferentes enquanto tentam manter o negócio rodando.'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do fundador (padrão ouro). Consultoria primeiro, tecnologia depois. Isso diferencia a Deep Blue de quem vende ferramenta pronta sem entender o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Essas três dores aparecem em quase todo diagnóstico. Use exemplos do cliente real que você está apresentando: troque os genéricos pelas dores específicas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Visão geral antes de aprofundar. As três frentes respondem a três perguntas do cliente: 'onde fica minha operação?', 'quem executa meu processo?', 'quem responde minhas perguntas?'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 é o carro-chefe do Labs. Se o cliente tem a operação espalhada em planilha, e-mail e Drive, o Blu centraliza. Demo ao vivo se possível: mostrar busca semântica na sala de estratégia.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Agentes sob medida são o ticket mais alto (implantação + mensalidade). Contar que a Deep Blue usa os próprios agentes para rodar a operação: é vitrine, não teoria.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assistente diário é o 'Hermes do cliente': consulta em linguagem natural, entende o negócio, usa as ferramentas. Demo ideal: fazer a pergunta ao vivo e mostrar a resposta com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coração da proposta: nada de ferramenta sem diagnóstico. Esse é o slide que separa a Deep Blue de quem vende IA pronta. Feche com a frase do fundador.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6 agentes Hermes internos. Quando o cliente perguntar 'isso funciona?', a resposta é: a gente opera assim. Cada proposta que vocês estão vendo foi escrita por um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com ação: agendar o diagnóstico gratuito. O CTA real é a reunião de descoberta. Levar contatos: site, Formly, MCP 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914399"/>
            <a:ext cx="5669280" cy="5669280"/>
          </a:xfrm>
          <a:prstGeom prst="ellipse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95006" y="1651406"/>
            <a:ext cx="4195267" cy="4195267"/>
          </a:xfrm>
          <a:prstGeom prst="ellipse">
            <a:avLst/>
          </a:prstGeom>
          <a:solidFill>
            <a:srgbClr val="0D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32012" y="2388412"/>
            <a:ext cx="2721254" cy="2721254"/>
          </a:xfrm>
          <a:prstGeom prst="ellipse">
            <a:avLst/>
          </a:prstGeom>
          <a:solidFill>
            <a:srgbClr val="102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69019" y="3125419"/>
            <a:ext cx="1247241" cy="1247241"/>
          </a:xfrm>
          <a:prstGeom prst="ellipse">
            <a:avLst/>
          </a:prstGeom>
          <a:solidFill>
            <a:srgbClr val="14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4791" y="501639"/>
            <a:ext cx="391728" cy="391728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9633" y="556481"/>
            <a:ext cx="282044" cy="282044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4475" y="611323"/>
            <a:ext cx="172360" cy="17236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9318" y="666166"/>
            <a:ext cx="62676" cy="6267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384" y="5943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77440"/>
            <a:ext cx="50292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Inter"/>
              </a:rPr>
              <a:t>INTELIGÊNCIA ARTIFICIAL COMO FERRAMENTA DE NEGÓCIO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7680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200" b="1" i="0">
                <a:solidFill>
                  <a:srgbClr val="F1F5F9"/>
                </a:solidFill>
                <a:latin typeface="Plus Jakarta Sans"/>
              </a:rPr>
              <a:t>Sua operação já funciona.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200" b="1" i="0">
                <a:solidFill>
                  <a:srgbClr val="F1F5F9"/>
                </a:solidFill>
                <a:latin typeface="Plus Jakarta Sans"/>
              </a:rPr>
              <a:t>A IA pode ser o que falta para ela render mais.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7132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Inter"/>
              </a:rPr>
              <a:t>Entregamos sistemas que agregam valor, com resultado mensurável. </a:t>
            </a:r>
            <a:r>
              <a:rPr sz="1500" b="1" i="0">
                <a:solidFill>
                  <a:srgbClr val="F1F5F9"/>
                </a:solidFill>
                <a:latin typeface="Inter"/>
              </a:rPr>
              <a:t>Consultoria primeiro. Tecnologia depois.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deepblue.company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A EMPRESA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1F5F9"/>
                </a:solidFill>
                <a:latin typeface="Plus Jakarta Sans"/>
              </a:rPr>
              <a:t>A Deep Blue ajuda empresas a usar IA como ferramenta de negócio.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Fundada para um perfil específico: PMEs que já rodam bem e querem render mais. Duas frentes, uma lógica — entender o negócio antes de propor tecnologia.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5303520" cy="237744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Plus Jakarta Sans"/>
              </a:rPr>
              <a:t>Deep Blue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 i="0">
                <a:solidFill>
                  <a:srgbClr val="F1F5F9"/>
                </a:solidFill>
                <a:latin typeface="Inter"/>
              </a:rPr>
              <a:t>Produtos em assinatura.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94A3B8"/>
                </a:solidFill>
                <a:latin typeface="Inter"/>
              </a:rPr>
              <a:t>Plataforma Blu, agentes de IA e assistentes que centralizam conhecimento e automatizam o dia a dia.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00400"/>
            <a:ext cx="5303520" cy="237744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5204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Plus Jakarta Sans"/>
              </a:rPr>
              <a:t>Deep Blue Consulting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402336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 i="0">
                <a:solidFill>
                  <a:srgbClr val="F1F5F9"/>
                </a:solidFill>
                <a:latin typeface="Inter"/>
              </a:rPr>
              <a:t>Projetos de diagnóstico e estratégia.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94A3B8"/>
                </a:solidFill>
                <a:latin typeface="Inter"/>
              </a:rPr>
              <a:t>Mapeamos processos, identificamos onde a IA agrega valor e priorizamos casos de uso.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O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F1F5F9"/>
                </a:solidFill>
                <a:latin typeface="Plus Jakarta Sans"/>
              </a:rPr>
              <a:t>PMEs rodam o país. E o dono decide sozinho.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Dados de mercado que explicam por que a IA vira ferramenta — e não brinquedo.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3429000" cy="27432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60A5FA"/>
                </a:solidFill>
                <a:latin typeface="Plus Jakarta Sans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dos líderes de PMEs tomam decisões sozinhos em 5 áreas diferentes, sem apoio estruturado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Itaú · Locomotiva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017520"/>
            <a:ext cx="3429000" cy="27432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29184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60A5FA"/>
                </a:solidFill>
                <a:latin typeface="Plus Jakarta Sans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16052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do PIB brasileiro é movido por PMEs, que respondem por metade dos empregos ativos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349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Sebrae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017520"/>
            <a:ext cx="3429000" cy="27432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29184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60A5FA"/>
                </a:solidFill>
                <a:latin typeface="Plus Jakarta Sans"/>
              </a:rPr>
              <a:t>9 em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6052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PMEs relatam dificuldade na gestão financeira do dia a 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3492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Inter"/>
              </a:rPr>
              <a:t>Pesquisa Sebrae 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1F5F9"/>
                </a:solidFill>
                <a:latin typeface="Plus Jakarta Sans"/>
              </a:rPr>
              <a:t>Não começamos pela tecnologia. Começamos pelo negócio.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3429000" cy="27432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4748B"/>
                </a:solidFill>
                <a:latin typeface="Plus Jakarta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  <a:latin typeface="Plus Jakarta Sans"/>
              </a:rPr>
              <a:t>Escutar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Entrevistas com as pessoas, não só com os dados. As dores aparecem no dia a dia, não no relatório.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017520"/>
            <a:ext cx="3429000" cy="27432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29184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4748B"/>
                </a:solidFill>
                <a:latin typeface="Plus Jakarta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7947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  <a:latin typeface="Plus Jakarta Sans"/>
              </a:rPr>
              <a:t>Entender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34340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Processos, decisões, gargalos. Onde o tempo some e onde o conhecimento fica preso.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3017520"/>
            <a:ext cx="3429000" cy="27432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29184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4748B"/>
                </a:solidFill>
                <a:latin typeface="Plus Jakarta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1F5F9"/>
                </a:solidFill>
                <a:latin typeface="Plus Jakarta Sans"/>
              </a:rPr>
              <a:t>Mapear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4340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Oportunidades priorizadas por impacto e viabilidade. O diagnóstico vira um mapa, não um laudo.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1F5F9"/>
                </a:solidFill>
                <a:latin typeface="Inter"/>
              </a:rPr>
              <a:t>Todo projeto de IA começa com pessoas: escutamos as dores do cliente, entendemos o processo e mapeamos oportunidades.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O QUE ENCONTRAMOS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F1F5F9"/>
                </a:solidFill>
                <a:latin typeface="Plus Jakarta Sans"/>
              </a:rPr>
              <a:t>As dores se repetem. Conhecimento preso, decisão solitária, processo manual.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3429000" cy="265176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10128"/>
            <a:ext cx="68580" cy="685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1" y="3310128"/>
            <a:ext cx="68580" cy="685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" y="3310128"/>
            <a:ext cx="68580" cy="685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  <a:latin typeface="Plus Jakarta Sans"/>
              </a:rPr>
              <a:t>Conhecimento espalhado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Documentos, planilhas e SOPs em lugares diferentes. O que a equipe sabe não vira ativo da empresa.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017520"/>
            <a:ext cx="3429000" cy="265176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17720" y="3310128"/>
            <a:ext cx="68580" cy="685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36592" y="3310128"/>
            <a:ext cx="68580" cy="685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3310128"/>
            <a:ext cx="68580" cy="685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6118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  <a:latin typeface="Plus Jakarta Sans"/>
              </a:rPr>
              <a:t>Decisão solitária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16052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O dono decide sozinho, sem ter os números na mão no momento da decisão. Tudo depende da cabeça dele.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017520"/>
            <a:ext cx="3429000" cy="265176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1040" y="3310128"/>
            <a:ext cx="68580" cy="685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9912" y="3310128"/>
            <a:ext cx="68580" cy="685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58784" y="3310128"/>
            <a:ext cx="68580" cy="685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6118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  <a:latin typeface="Plus Jakarta Sans"/>
              </a:rPr>
              <a:t>Trabalho 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16052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O tempo que poderia gerar negócio é gasto repetindo o mesmo processo. Cada proposta, cada relatório, do zero.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F1F5F9"/>
                </a:solidFill>
                <a:latin typeface="Plus Jakarta Sans"/>
              </a:rPr>
              <a:t>Ferramentas de IA a serviço do seu negócio.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Três frentes. Todas inseridas nos pontos de impacto que o diagnóstico revelou.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3429000" cy="27432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60A5FA"/>
                </a:solidFill>
                <a:latin typeface="Plus Jakarta Sans"/>
              </a:rPr>
              <a:t>Plataforma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2880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Sistemas completos: documentos, conhecimento e agentes de IA num ambiente só. A operação centralizada.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440680"/>
            <a:ext cx="45720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3017520"/>
            <a:ext cx="3429000" cy="27432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2918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60A5FA"/>
                </a:solidFill>
                <a:latin typeface="Plus Jakarta Sans"/>
              </a:rPr>
              <a:t>Fluxos de agentes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886200"/>
            <a:ext cx="2880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Processos automatizados com agentes integrados aos sistemas que o cliente já usa. Cada um na sua função.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5440680"/>
            <a:ext cx="45720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19" y="3017520"/>
            <a:ext cx="3429000" cy="27432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2918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60A5FA"/>
                </a:solidFill>
                <a:latin typeface="Plus Jakarta Sans"/>
              </a:rPr>
              <a:t>Assistente diário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86200"/>
            <a:ext cx="2880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Um agente que entende o negócio e responde em linguagem natural. Perguntou, resolveu — com contexto.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5440680"/>
            <a:ext cx="45720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CAPABILITY · 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1F5F9"/>
                </a:solidFill>
                <a:latin typeface="Plus Jakarta Sans"/>
              </a:rPr>
              <a:t>Plataforma Blu. O escritório virtual da sua empresa.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Um ambiente só para o que hoje está espalhado: documentos, conhecimento e agentes.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303520" cy="148132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Plus Jakarta Sans"/>
              </a:rPr>
              <a:t>Agentes de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Trabalham nos seus processos: atendimento, documentos, relatórios, rotinas.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017520"/>
            <a:ext cx="5303520" cy="148132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2186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Plus Jakarta Sans"/>
              </a:rPr>
              <a:t>Pipeline de documentos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3931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Do lead ao contrato, tudo num fluxo único e rastreável.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5303520" cy="148132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103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Plus Jakarta Sans"/>
              </a:rPr>
              <a:t>Sala de estratégia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3095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Busca semântica no conhecimento da empresa. Pergunta em linguagem natural, resposta com contexto.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709160"/>
            <a:ext cx="5303520" cy="148132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9103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1F5F9"/>
                </a:solidFill>
                <a:latin typeface="Plus Jakarta Sans"/>
              </a:rPr>
              <a:t>Gestão de conhecimento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3095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O que a equipe sabe vira ativo da empresa — acessível, não preso na cabeça de ninguém.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CAPABILITY · AGENTES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1F5F9"/>
                </a:solidFill>
                <a:latin typeface="Plus Jakarta Sans"/>
              </a:rPr>
              <a:t>Agentes que trabalham dentro do seu processo.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Implantados nos sistemas que o cliente já usa. Cada um com uma função clara.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303520" cy="148132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  <a:latin typeface="Plus Jakarta Sans"/>
              </a:rPr>
              <a:t>TalentFlow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RH — triagem de currículos, agendamento, onboarding, análise de turnover.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017520"/>
            <a:ext cx="5303520" cy="148132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2186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  <a:latin typeface="Plus Jakarta Sans"/>
              </a:rPr>
              <a:t>KnowledgeBase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3931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Conhecimento — respostas com o contexto da empresa, não texto genérico.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5303520" cy="148132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103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  <a:latin typeface="Plus Jakarta Sans"/>
              </a:rPr>
              <a:t>ProjectPilot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3095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Projetos — prazos, riscos, status. O PM que não dorme.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709160"/>
            <a:ext cx="5303520" cy="1481328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9103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  <a:latin typeface="Plus Jakarta Sans"/>
              </a:rPr>
              <a:t>OpsFlow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3095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Operações — rotinas e fluxos internos automatizados.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1F5F9"/>
                </a:solidFill>
                <a:latin typeface="Inter"/>
              </a:rPr>
              <a:t>Nossa operação roda com 6 agentes assim. A mesma tecnologia que entregamos para clientes.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CAPABILITY · ASSISTENTE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1F5F9"/>
                </a:solidFill>
                <a:latin typeface="Plus Jakarta Sans"/>
              </a:rPr>
              <a:t>Pergunte em linguagem natural. Ele entende o seu negócio.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Um assistente diário — um Hermes trabalhando para você, com o contexto da empresa.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6766560" cy="283464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1F5F9"/>
                </a:solidFill>
                <a:latin typeface="Plus Jakarta Sans"/>
              </a:rPr>
              <a:t>1 · Entende o contexto  </a:t>
            </a:r>
            <a:r>
              <a:rPr sz="1300" b="0" i="0">
                <a:solidFill>
                  <a:srgbClr val="94A3B8"/>
                </a:solidFill>
                <a:latin typeface="Inter"/>
              </a:rPr>
              <a:t>Processo, gargalos e histórico da empresa. Não responde no vácuo.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1F5F9"/>
                </a:solidFill>
                <a:latin typeface="Plus Jakarta Sans"/>
              </a:rPr>
              <a:t>2 · Consulta as ferramentas por você  </a:t>
            </a:r>
            <a:r>
              <a:rPr sz="1300" b="0" i="0">
                <a:solidFill>
                  <a:srgbClr val="94A3B8"/>
                </a:solidFill>
                <a:latin typeface="Inter"/>
              </a:rPr>
              <a:t>Busca nos documentos, puxa os números, executa rotinas.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83479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1F5F9"/>
                </a:solidFill>
                <a:latin typeface="Plus Jakarta Sans"/>
              </a:rPr>
              <a:t>3 · Responde com contexto  </a:t>
            </a:r>
            <a:r>
              <a:rPr sz="1300" b="0" i="0">
                <a:solidFill>
                  <a:srgbClr val="94A3B8"/>
                </a:solidFill>
                <a:latin typeface="Inter"/>
              </a:rPr>
              <a:t>Resposta com a cara do seu negócio — não texto genérico de 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017520"/>
            <a:ext cx="3867912" cy="2834640"/>
          </a:xfrm>
          <a:prstGeom prst="roundRect">
            <a:avLst/>
          </a:prstGeom>
          <a:solidFill>
            <a:srgbClr val="0C1024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3101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Exemplo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749039"/>
            <a:ext cx="3291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 i="1">
                <a:solidFill>
                  <a:srgbClr val="F1F5F9"/>
                </a:solidFill>
                <a:latin typeface="Inter"/>
              </a:rPr>
              <a:t>“Quantas propostas foram enviadas este mês e quais estão paradas há mais de uma semana?”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94A3B8"/>
                </a:solidFill>
                <a:latin typeface="Inter"/>
              </a:rPr>
              <a:t>→ Busca, cruza e responde com os números da casa.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COMO ENTRA A TECNOLOGIA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1F5F9"/>
                </a:solidFill>
                <a:latin typeface="Plus Jakarta Sans"/>
              </a:rPr>
              <a:t>Diagnóstico primeiro. Ferramentas nos pontos de impacto.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Entendemos as dores do cliente e inserimos as ferramentas exatamente onde elas mudam o dia a 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5303520" cy="24688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Plus Jakarta Sans"/>
              </a:rPr>
              <a:t>1 · Diagnóstico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4A3B8"/>
                </a:solidFill>
                <a:latin typeface="Inter"/>
              </a:rPr>
              <a:t>Gargalos e dores mapeados com o cliente: onde o tempo some, onde a decisão trava, onde o conhecimento fica preso.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93192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3B82F6"/>
                </a:solidFill>
                <a:latin typeface="Plus Jakarta Sa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9752" y="3200400"/>
            <a:ext cx="4389120" cy="24688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35204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Plus Jakarta Sans"/>
              </a:rPr>
              <a:t>2 · Inserção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4069080"/>
            <a:ext cx="3840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4A3B8"/>
                </a:solidFill>
                <a:latin typeface="Inter"/>
              </a:rPr>
              <a:t>Ferramentas de IA nos pontos de impacto do diagnóstico. Cada uma responde a uma dor mapeada.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1F5F9"/>
                </a:solidFill>
                <a:latin typeface="Inter"/>
              </a:rPr>
              <a:t>A IA é uma poderosa ferramenta que usamos para impactar o diagnóstico que fizemos.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PROVA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F1F5F9"/>
                </a:solidFill>
                <a:latin typeface="Plus Jakarta Sans"/>
              </a:rPr>
              <a:t>Usamos o que vendemos.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4A3B8"/>
                </a:solidFill>
                <a:latin typeface="Inter"/>
              </a:rPr>
              <a:t>Nossa operação roda com agentes de IA. A mesma tecnologia que entregamos para clientes.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3429000" cy="13716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Plus Jakarta Sans"/>
              </a:rPr>
              <a:t>Hermes 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Propostas, documentação, conteúdo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108960"/>
            <a:ext cx="3429000" cy="13716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2918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Plus Jakarta Sans"/>
              </a:rPr>
              <a:t>Hermes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730752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Cronogramas, riscos,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108960"/>
            <a:ext cx="3429000" cy="13716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Plus Jakarta Sans"/>
              </a:rPr>
              <a:t>Hermes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30752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Leads, follow-ups,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63440"/>
            <a:ext cx="3429000" cy="13716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Plus Jakarta Sans"/>
              </a:rPr>
              <a:t>Hermes 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85231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Código, code review, testes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663440"/>
            <a:ext cx="3429000" cy="13716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84632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Plus Jakarta Sans"/>
              </a:rPr>
              <a:t>Hermes Legal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285231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Contratos e compliance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4663440"/>
            <a:ext cx="3429000" cy="13716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84632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Plus Jakarta Sans"/>
              </a:rPr>
              <a:t>Hermes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285231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Fluxo de caixa e margem por projeto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274320"/>
            <a:ext cx="4023360" cy="4023360"/>
          </a:xfrm>
          <a:prstGeom prst="ellipse">
            <a:avLst/>
          </a:prstGeom>
          <a:solidFill>
            <a:srgbClr val="0A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52636" y="248716"/>
            <a:ext cx="2977286" cy="2977286"/>
          </a:xfrm>
          <a:prstGeom prst="ellipse">
            <a:avLst/>
          </a:prstGeom>
          <a:solidFill>
            <a:srgbClr val="0D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75673" y="771753"/>
            <a:ext cx="1931212" cy="1931212"/>
          </a:xfrm>
          <a:prstGeom prst="ellipse">
            <a:avLst/>
          </a:prstGeom>
          <a:solidFill>
            <a:srgbClr val="102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98710" y="1294790"/>
            <a:ext cx="885139" cy="885139"/>
          </a:xfrm>
          <a:prstGeom prst="ellipse">
            <a:avLst/>
          </a:prstGeom>
          <a:solidFill>
            <a:srgbClr val="14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2472" y="399592"/>
            <a:ext cx="345643" cy="345643"/>
          </a:xfrm>
          <a:prstGeom prst="ellipse">
            <a:avLst/>
          </a:prstGeom>
          <a:solidFill>
            <a:srgbClr val="0E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0862" y="447982"/>
            <a:ext cx="248863" cy="248863"/>
          </a:xfrm>
          <a:prstGeom prst="ellipse">
            <a:avLst/>
          </a:prstGeom>
          <a:solidFill>
            <a:srgbClr val="16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9252" y="496372"/>
            <a:ext cx="152083" cy="152083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7642" y="544762"/>
            <a:ext cx="55302" cy="5530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022" y="4846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Plus Jakarta Sans"/>
              </a:rPr>
              <a:t>Deep </a:t>
            </a:r>
            <a:r>
              <a:rPr sz="1500" b="1" i="0">
                <a:solidFill>
                  <a:srgbClr val="F1F5F9"/>
                </a:solidFill>
                <a:latin typeface="Plus Jakarta Sans"/>
              </a:rPr>
              <a:t>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Inter"/>
              </a:rPr>
              <a:t>PRÓXIMOS PASSOS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 i="0">
                <a:solidFill>
                  <a:srgbClr val="F1F5F9"/>
                </a:solidFill>
                <a:latin typeface="Plus Jakarta Sans"/>
              </a:rPr>
              <a:t>Conta o seu desafio. A gente mapeia onde a IA agrega.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3429000" cy="24688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64748B"/>
                </a:solidFill>
                <a:latin typeface="Plus Jakarta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  <a:latin typeface="Plus Jakarta Sans"/>
              </a:rPr>
              <a:t>Diagnóstico gratuito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Entendemos seu processo e suas dores. Sem compromisso, sem fórmula pronta.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108960"/>
            <a:ext cx="3429000" cy="24688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3832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64748B"/>
                </a:solidFill>
                <a:latin typeface="Plus Jakarta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97763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  <a:latin typeface="Plus Jakarta Sans"/>
              </a:rPr>
              <a:t>Mapa de impacto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52628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Onde a IA agrega valor no seu negócio, com priorização por impacto e viabilidade.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108960"/>
            <a:ext cx="3429000" cy="24688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3832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64748B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97763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  <a:latin typeface="Plus Jakarta Sans"/>
              </a:rPr>
              <a:t>Proposta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52628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Ferramentas nos pontos de impacto, com resultado mensurável e cronograma.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Inter"/>
              </a:rPr>
              <a:t>deepblue.company  ·  </a:t>
            </a:r>
            <a:r>
              <a:rPr sz="1300" b="1" i="0">
                <a:solidFill>
                  <a:srgbClr val="60A5FA"/>
                </a:solidFill>
                <a:latin typeface="Inter"/>
              </a:rPr>
              <a:t>formly.ink</a:t>
            </a:r>
            <a:r>
              <a:rPr sz="1300" b="0" i="0">
                <a:solidFill>
                  <a:srgbClr val="94A3B8"/>
                </a:solidFill>
                <a:latin typeface="Inter"/>
              </a:rPr>
              <a:t>  ·  </a:t>
            </a:r>
            <a:r>
              <a:rPr sz="1300" b="1" i="0">
                <a:solidFill>
                  <a:srgbClr val="60A5FA"/>
                </a:solidFill>
                <a:latin typeface="Inter"/>
              </a:rPr>
              <a:t>app.mcp-brain.com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28816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