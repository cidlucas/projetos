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Uma frase: a Deep Blue existe para PMEs que já rodam bem e querem render mais. Nosso ponto de partida é sempre o negócio; a IA entra depois, como ferramenta.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as duas frentes como complementares: Labs é o produto contínuo, Consulting é a porta de entrada. Muitos clientes começam no diagnóstico e viram assinante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Itaú/Locomotiva, Sebrae (2024-2025). O dono de PME decide sozinho em 5 áreas; a Deep Blue existe pra tirar peso das costas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do fundador (padrão ouro). Consultoria primeiro, tecnologia depois. Isso diferencia a Deep Blue de quem vende ferramenta pronta sem entender o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Essas três dores aparecem em quase todo diagnóstico. Use exemplos do cliente real que você está apresentando: troque os genéricos pelas dores específicas dele.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geral antes de aprofundar. As três frentes respondem a três perguntas do cliente: 'onde fica minha operação?', 'quem executa meu processo?', 'quem responde minhas perguntas?'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 é o carro-chefe do Labs. Se o cliente tem a operação espalhada em planilha, e-mail e Drive, o Blu centraliza. Demo ao vivo se possível: mostrar busca semântica na sala de estratégia.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Agentes sob medida são o ticket mais alto (implantação + mensalidade). Contar que a Deep Blue usa os próprios agentes para rodar a operação: é vitrine, não teoria.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assistente diário é o 'Hermes do cliente': consulta em linguagem natural, entende o negócio, usa as ferramentas. Demo ideal: fazer a pergunta ao vivo e mostrar a resposta com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coração da proposta: nada de ferramenta sem diagnóstico. Esse é o slide que separa a Deep Blue de quem vende IA pronta. Feche com a frase do fundador.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6 agentes Hermes internos. Quando o cliente perguntar 'isso funciona?', a resposta é: a gente opera assim. Cada proposta que vocês estão vendo foi escrita por um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com ação: agendar o diagnóstico gratuito. O CTA real é a reunião de descoberta. Levar contatos: site, Formly, MCP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731519"/>
            <a:ext cx="5669280" cy="5669280"/>
          </a:xfrm>
          <a:prstGeom prst="ellipse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71992" y="1496872"/>
            <a:ext cx="4138574" cy="4138574"/>
          </a:xfrm>
          <a:prstGeom prst="ellipse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5692" y="2290572"/>
            <a:ext cx="2551176" cy="2551176"/>
          </a:xfrm>
          <a:prstGeom prst="ellipse">
            <a:avLst/>
          </a:prstGeom>
          <a:solidFill>
            <a:srgbClr val="B3C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31044" y="3055924"/>
            <a:ext cx="1020470" cy="1020470"/>
          </a:xfrm>
          <a:prstGeom prst="ellipse">
            <a:avLst/>
          </a:prstGeom>
          <a:solidFill>
            <a:srgbClr val="8FA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566928"/>
            <a:ext cx="715060" cy="715060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6613" y="663461"/>
            <a:ext cx="521994" cy="521994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6721" y="763569"/>
            <a:ext cx="321777" cy="321777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3254" y="860102"/>
            <a:ext cx="128710" cy="12871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3156" y="58521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86000"/>
            <a:ext cx="502920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  <a:latin typeface="JetBrains Mono"/>
              </a:rPr>
              <a:t>INTELIGÊNCIA ARTIFICIAL COMO FERRAMENTA DE NEGÓCIO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000" b="1" i="0">
                <a:solidFill>
                  <a:srgbClr val="101828"/>
                </a:solidFill>
                <a:latin typeface="Plus Jakarta Sans"/>
              </a:rPr>
              <a:t>Sua operação já funciona.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000" b="1" i="0">
                <a:solidFill>
                  <a:srgbClr val="101828"/>
                </a:solidFill>
                <a:latin typeface="Plus Jakarta Sans"/>
              </a:rPr>
              <a:t>A IA pode ser o que falta para ela </a:t>
            </a:r>
            <a:r>
              <a:rPr sz="4000" b="0" i="1">
                <a:solidFill>
                  <a:srgbClr val="1D4ED8"/>
                </a:solidFill>
                <a:latin typeface="Instrument Serif"/>
              </a:rPr>
              <a:t>render mais.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7132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B6472"/>
                </a:solidFill>
                <a:latin typeface="Inter"/>
              </a:rPr>
              <a:t>Entregamos sistemas que agregam valor, com resultado mensurável. </a:t>
            </a:r>
            <a:r>
              <a:rPr sz="1500" b="1" i="0">
                <a:solidFill>
                  <a:srgbClr val="101828"/>
                </a:solidFill>
                <a:latin typeface="Inter"/>
              </a:rPr>
              <a:t>Consultoria primeiro. Tecnologia depois.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Inter"/>
              </a:rPr>
              <a:t>deepblue.company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A EMPRESA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01828"/>
                </a:solidFill>
                <a:latin typeface="Plus Jakarta Sans"/>
              </a:rPr>
              <a:t>A Deep Blue ajuda empresas a usar IA como</a:t>
            </a:r>
            <a:r>
              <a:rPr sz="2700" b="0" i="1">
                <a:solidFill>
                  <a:srgbClr val="1D4ED8"/>
                </a:solidFill>
                <a:latin typeface="Instrument Serif"/>
              </a:rPr>
              <a:t> ferramenta de negócio.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Fundada para um perfil específico: PMEs que já rodam bem e querem render mais. Duas frentes, uma lógica — entender o negócio antes de propor tecnologia.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530352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429000"/>
            <a:ext cx="1660550" cy="310896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97580"/>
            <a:ext cx="144109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LABS · ASSINATURA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01828"/>
                </a:solidFill>
                <a:latin typeface="Plus Jakarta Sans"/>
              </a:rPr>
              <a:t>Deep Blue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B6472"/>
                </a:solidFill>
                <a:latin typeface="Inter"/>
              </a:rPr>
              <a:t>Produtos em assinatura. Plataforma Blu, agentes de IA e assistentes que centralizam conhecimento e automatizam o dia a dia.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154680"/>
            <a:ext cx="5303520" cy="2514600"/>
          </a:xfrm>
          <a:prstGeom prst="roundRect">
            <a:avLst/>
          </a:prstGeom>
          <a:solidFill>
            <a:srgbClr val="10182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3429000"/>
            <a:ext cx="2465222" cy="310896"/>
          </a:xfrm>
          <a:prstGeom prst="roundRect">
            <a:avLst/>
          </a:prstGeom>
          <a:solidFill>
            <a:srgbClr val="1B2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497580"/>
            <a:ext cx="224576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JetBrains Mono"/>
              </a:rPr>
              <a:t>CONSULTING · ESCOPO FECHADO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8862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2F2F0"/>
                </a:solidFill>
                <a:latin typeface="Plus Jakarta Sans"/>
              </a:rPr>
              <a:t>Deep Blue Consulting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43484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B8BEC9"/>
                </a:solidFill>
                <a:latin typeface="Inter"/>
              </a:rPr>
              <a:t>Projetos de diagnóstico e estratégia. Mapeamos processos, identificamos onde a IA agrega valor e priorizamos casos de uso.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O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101828"/>
                </a:solidFill>
                <a:latin typeface="Plus Jakarta Sans"/>
              </a:rPr>
              <a:t>PMEs rodam o país. E o dono decide</a:t>
            </a:r>
            <a:r>
              <a:rPr sz="2900" b="0" i="1">
                <a:solidFill>
                  <a:srgbClr val="1D4ED8"/>
                </a:solidFill>
                <a:latin typeface="Instrument Serif"/>
              </a:rPr>
              <a:t> sozinho.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Dados de mercado que explicam por que a IA vira ferramenta — e não brinquedo.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34290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D4ED8"/>
                </a:solidFill>
                <a:latin typeface="Plus Jakarta Sans"/>
              </a:rPr>
              <a:t>90%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dos líderes de PMEs tomam decisões sozinhos em 5 áreas diferentes, sem apoio estruturado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3"/>
                </a:solidFill>
                <a:latin typeface="Inter"/>
              </a:rPr>
              <a:t>Itaú · Locomotiva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017520"/>
            <a:ext cx="34290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31012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D4ED8"/>
                </a:solidFill>
                <a:latin typeface="Plus Jakarta Sans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20624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do PIB brasileiro é movido por PMEs, que respondem por metade dos empregos ativos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39496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3"/>
                </a:solidFill>
                <a:latin typeface="Inter"/>
              </a:rPr>
              <a:t>Sebrae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017520"/>
            <a:ext cx="34290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310128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D4ED8"/>
                </a:solidFill>
                <a:latin typeface="Plus Jakarta Sans"/>
              </a:rPr>
              <a:t>9 em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06240"/>
            <a:ext cx="2880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PMEs relatam dificuldade na gestão financeira do dia a 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39496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3"/>
                </a:solidFill>
                <a:latin typeface="Inter"/>
              </a:rPr>
              <a:t>Pesquisa Sebrae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MÉTODO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01828"/>
                </a:solidFill>
                <a:latin typeface="Plus Jakarta Sans"/>
              </a:rPr>
              <a:t>Não começamos pela tecnologia. Começamos pelo</a:t>
            </a:r>
            <a:r>
              <a:rPr sz="2800" b="0" i="1">
                <a:solidFill>
                  <a:srgbClr val="1D4ED8"/>
                </a:solidFill>
                <a:latin typeface="Instrument Serif"/>
              </a:rPr>
              <a:t> negócio.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17520"/>
            <a:ext cx="34290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3B2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1828"/>
                </a:solidFill>
                <a:latin typeface="Plus Jakarta Sans"/>
              </a:rPr>
              <a:t>Escutar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Entrevistas com as pessoas, não só com os dados. As dores aparecem no dia a dia, não no relatório.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017520"/>
            <a:ext cx="34290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31012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3B2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8404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1828"/>
                </a:solidFill>
                <a:latin typeface="Plus Jakarta Sans"/>
              </a:rPr>
              <a:t>Entender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43484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Processos, decisões, gargalos. Onde o tempo some e onde o conhecimento fica preso.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3017520"/>
            <a:ext cx="34290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310128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3B2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8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1828"/>
                </a:solidFill>
                <a:latin typeface="Plus Jakarta Sans"/>
              </a:rPr>
              <a:t>Mapear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3484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Oportunidades priorizadas por impacto e viabilidade. O diagnóstico vira um mapa, não um laudo.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01828"/>
                </a:solidFill>
                <a:latin typeface="Inter"/>
              </a:rPr>
              <a:t>Todo projeto de IA começa com pessoas: escutamos as dores do cliente, entendemos o processo e mapeamos oportunidades.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O QUE ENCONTRAMOS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01828"/>
                </a:solidFill>
                <a:latin typeface="Plus Jakarta Sans"/>
              </a:rPr>
              <a:t>As dores se repetem. Conhecimento preso, decisão</a:t>
            </a:r>
            <a:r>
              <a:rPr sz="2600" b="0" i="1">
                <a:solidFill>
                  <a:srgbClr val="1D4ED8"/>
                </a:solidFill>
                <a:latin typeface="Instrument Serif"/>
              </a:rPr>
              <a:t> solitária,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01828"/>
                </a:solidFill>
                <a:latin typeface="Plus Jakarta Sans"/>
              </a:rPr>
              <a:t>processo manual.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342900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7889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271" y="27889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2144" y="27889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Plus Jakarta Sans"/>
              </a:rPr>
              <a:t>Conhecimento espalhado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Documentos, planilhas e SOPs em lugares diferentes. O que a equipe sabe não vira ativo da empresa.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514600"/>
            <a:ext cx="342900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17720" y="27889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36592" y="27889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55464" y="27889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31089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Plus Jakarta Sans"/>
              </a:rPr>
              <a:t>Decisão solitária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70332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 dono decide sozinho, sem ter os números na mão no momento da decisão. Tudo depende da cabeça dele.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514600"/>
            <a:ext cx="342900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0" y="27889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39912" y="27889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58784" y="2788920"/>
            <a:ext cx="68580" cy="6858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1089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Plus Jakarta Sans"/>
              </a:rPr>
              <a:t>Trabalho manual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0332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 tempo que poderia gerar negócio é gasto repetindo o mesmo processo. Cada proposta, cada relatório, do zero.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101828"/>
                </a:solidFill>
                <a:latin typeface="Plus Jakarta Sans"/>
              </a:rPr>
              <a:t>Ferramentas de IA a serviço do seu</a:t>
            </a:r>
            <a:r>
              <a:rPr sz="2900" b="0" i="1">
                <a:solidFill>
                  <a:srgbClr val="1D4ED8"/>
                </a:solidFill>
                <a:latin typeface="Instrument Serif"/>
              </a:rPr>
              <a:t> negócio.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Três frentes. Todas inseridas nos pontos de impacto que o diagnóstico revelou.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34290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310128"/>
            <a:ext cx="1691640" cy="310896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378708"/>
            <a:ext cx="1472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PLATAFORMA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Sistemas completos: documentos, conhecimento e agentes de IA num ambiente só. A operação centralizada.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440680"/>
            <a:ext cx="457200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3017520"/>
            <a:ext cx="34290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17720" y="3310128"/>
            <a:ext cx="1691640" cy="310896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27448" y="3378708"/>
            <a:ext cx="1472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FLUXOS DE AGENTES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93192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Processos automatizados com agentes integrados aos sistemas que o cliente já usa. Cada um na sua função.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5440680"/>
            <a:ext cx="457200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3017520"/>
            <a:ext cx="34290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3310128"/>
            <a:ext cx="1691640" cy="310896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7" y="3378708"/>
            <a:ext cx="14721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ASSISTENTE DIÁRIO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93192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Um agente que entende o negócio e responde em linguagem natural. Perguntou, resolveu — com contexto.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5440680"/>
            <a:ext cx="457200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CAPABILITY · 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01828"/>
                </a:solidFill>
                <a:latin typeface="Plus Jakarta Sans"/>
              </a:rPr>
              <a:t>Plataforma Blu. O escritório virtual da sua</a:t>
            </a:r>
            <a:r>
              <a:rPr sz="2800" b="0" i="1">
                <a:solidFill>
                  <a:srgbClr val="1D4ED8"/>
                </a:solidFill>
                <a:latin typeface="Instrument Serif"/>
              </a:rPr>
              <a:t> empresa.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Um ambiente só para o que hoje está espalhado: documentos, conhecimento e agentes.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3035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Plus Jakarta Sans"/>
              </a:rPr>
              <a:t>Agentes de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21024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Trabalham nos seus processos: atendimento, documentos, relatórios, rotinas.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017520"/>
            <a:ext cx="53035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200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Plus Jakarta Sans"/>
              </a:rPr>
              <a:t>Pipeline de documentos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21024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Do lead ao contrato, tudo num fluxo único e rastreável.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53035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Plus Jakarta Sans"/>
              </a:rPr>
              <a:t>Sala de estratégia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66944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Busca semântica no conhecimento da empresa. Pergunta em linguagem natural, resposta com contexto.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663440"/>
            <a:ext cx="53035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8463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Plus Jakarta Sans"/>
              </a:rPr>
              <a:t>Gestão de conhecimento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266944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 que a equipe sabe vira ativo da empresa — acessível, não preso na cabeça de ninguém.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CAPABILITY · AGENTES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01828"/>
                </a:solidFill>
                <a:latin typeface="Plus Jakarta Sans"/>
              </a:rPr>
              <a:t>Agentes que trabalham dentro do seu</a:t>
            </a:r>
            <a:r>
              <a:rPr sz="2800" b="0" i="1">
                <a:solidFill>
                  <a:srgbClr val="1D4ED8"/>
                </a:solidFill>
                <a:latin typeface="Instrument Serif"/>
              </a:rPr>
              <a:t> processo.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Implantados nos sistemas que o cliente já usa. Cada um com uma função clara.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3035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Plus Jakarta Sans"/>
              </a:rPr>
              <a:t>TalentFlow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21024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RH — triagem de currículos, agendamento, onboarding, análise de turnover.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017520"/>
            <a:ext cx="53035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200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Plus Jakarta Sans"/>
              </a:rPr>
              <a:t>KnowledgeBase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21024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Conhecimento — respostas com o contexto da empresa, não texto genérico.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53035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Plus Jakarta Sans"/>
              </a:rPr>
              <a:t>ProjectPilot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66944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Projetos — prazos, riscos, status. O PM que não dorme.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4663440"/>
            <a:ext cx="5303520" cy="1444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48463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1828"/>
                </a:solidFill>
                <a:latin typeface="Plus Jakarta Sans"/>
              </a:rPr>
              <a:t>OpsFlow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5266944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Operações — rotinas e fluxos internos automatizados.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01828"/>
                </a:solidFill>
                <a:latin typeface="Inter"/>
              </a:rPr>
              <a:t>Nossa operação roda com 6 agentes assim. A mesma tecnologia que entregamos para clientes.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CAPABILITY · ASSISTENTE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01828"/>
                </a:solidFill>
                <a:latin typeface="Plus Jakarta Sans"/>
              </a:rPr>
              <a:t>Pergunte em linguagem natural. Ele entende o seu</a:t>
            </a:r>
            <a:r>
              <a:rPr sz="2700" b="0" i="1">
                <a:solidFill>
                  <a:srgbClr val="1D4ED8"/>
                </a:solidFill>
                <a:latin typeface="Instrument Serif"/>
              </a:rPr>
              <a:t> negócio.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Um assistente diário — um Hermes trabalhando para você, com o contexto da empresa.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6766560" cy="2834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1828"/>
                </a:solidFill>
                <a:latin typeface="Plus Jakarta Sans"/>
              </a:rPr>
              <a:t>1 · Entende o contexto  </a:t>
            </a:r>
            <a:r>
              <a:rPr sz="1300" b="0" i="0">
                <a:solidFill>
                  <a:srgbClr val="5B6472"/>
                </a:solidFill>
                <a:latin typeface="Inter"/>
              </a:rPr>
              <a:t>Processo, gargalos e histórico da empresa. Não responde no vácuo.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1828"/>
                </a:solidFill>
                <a:latin typeface="Plus Jakarta Sans"/>
              </a:rPr>
              <a:t>2 · Consulta as ferramentas por você  </a:t>
            </a:r>
            <a:r>
              <a:rPr sz="1300" b="0" i="0">
                <a:solidFill>
                  <a:srgbClr val="5B6472"/>
                </a:solidFill>
                <a:latin typeface="Inter"/>
              </a:rPr>
              <a:t>Busca nos documentos, puxa os números, executa rotinas.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83479"/>
            <a:ext cx="6217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01828"/>
                </a:solidFill>
                <a:latin typeface="Plus Jakarta Sans"/>
              </a:rPr>
              <a:t>3 · Responde com contexto  </a:t>
            </a:r>
            <a:r>
              <a:rPr sz="1300" b="0" i="0">
                <a:solidFill>
                  <a:srgbClr val="5B6472"/>
                </a:solidFill>
                <a:latin typeface="Inter"/>
              </a:rPr>
              <a:t>Resposta com a cara do seu negócio — não texto genérico de 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017520"/>
            <a:ext cx="3867912" cy="2834640"/>
          </a:xfrm>
          <a:prstGeom prst="roundRect">
            <a:avLst/>
          </a:prstGeom>
          <a:solidFill>
            <a:srgbClr val="F8F9FC"/>
          </a:solidFill>
          <a:ln w="9525">
            <a:solidFill>
              <a:srgbClr val="D6DE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3310128"/>
            <a:ext cx="960120" cy="310896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7" y="3378708"/>
            <a:ext cx="74066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EXEMPLO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794760"/>
            <a:ext cx="3291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0" i="1">
                <a:solidFill>
                  <a:srgbClr val="101828"/>
                </a:solidFill>
                <a:latin typeface="Instrument Serif"/>
              </a:rPr>
              <a:t>“Quantas propostas foram enviadas este mês e quais estão paradas há mais de uma semana?”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250" b="0" i="0">
                <a:solidFill>
                  <a:srgbClr val="5B6472"/>
                </a:solidFill>
                <a:latin typeface="Inter"/>
              </a:rPr>
              <a:t>→ Busca, cruza e responde com os números da casa.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COMO ENTRA A TECNOLOGIA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01828"/>
                </a:solidFill>
                <a:latin typeface="Plus Jakarta Sans"/>
              </a:rPr>
              <a:t>Diagnóstico primeiro. Ferramentas nos pontos de</a:t>
            </a:r>
            <a:r>
              <a:rPr sz="2800" b="0" i="1">
                <a:solidFill>
                  <a:srgbClr val="1D4ED8"/>
                </a:solidFill>
                <a:latin typeface="Instrument Serif"/>
              </a:rPr>
              <a:t> impacto.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Entendemos as dores do cliente e inserimos as ferramentas exatamente onde elas mudam o dia a 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530352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429000"/>
            <a:ext cx="2011680" cy="310896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9758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1 · DIAGNÓSTICO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B6472"/>
                </a:solidFill>
                <a:latin typeface="Inter"/>
              </a:rPr>
              <a:t>Gargalos e dores mapeados com o cliente: onde o tempo some, onde a decisão trava, onde o conhecimento fica preso.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88620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D4ED8"/>
                </a:solidFill>
                <a:latin typeface="Plus Jakarta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9752" y="3154680"/>
            <a:ext cx="438912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34072" y="3429000"/>
            <a:ext cx="2011680" cy="310896"/>
          </a:xfrm>
          <a:prstGeom prst="roundRect">
            <a:avLst/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3497580"/>
            <a:ext cx="17922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D4ED8"/>
                </a:solidFill>
                <a:latin typeface="JetBrains Mono"/>
              </a:rPr>
              <a:t>2 · INSERÇÃO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402336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B6472"/>
                </a:solidFill>
                <a:latin typeface="Inter"/>
              </a:rPr>
              <a:t>Ferramentas de IA nos pontos de impacto do diagnóstico. Cada uma responde a uma dor mapeada.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101828"/>
                </a:solidFill>
                <a:latin typeface="Inter"/>
              </a:rPr>
              <a:t>A IA é uma poderosa ferramenta que usamos para impactar o diagnóstico que fizemos.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PROVA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1828"/>
                </a:solidFill>
                <a:latin typeface="Plus Jakarta Sans"/>
              </a:rPr>
              <a:t>Usamos o que</a:t>
            </a:r>
            <a:r>
              <a:rPr sz="3000" b="0" i="1">
                <a:solidFill>
                  <a:srgbClr val="1D4ED8"/>
                </a:solidFill>
                <a:latin typeface="Instrument Serif"/>
              </a:rPr>
              <a:t> vendemos.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5B6472"/>
                </a:solidFill>
                <a:latin typeface="Inter"/>
              </a:rPr>
              <a:t>Nossa operação roda com agentes de IA. A mesma tecnologia que entregamos para clientes.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08960"/>
            <a:ext cx="34290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7355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Plus Jakarta Sans"/>
              </a:rPr>
              <a:t>Hermes 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3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Propostas, documentação, conteúdo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108960"/>
            <a:ext cx="34290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27355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Plus Jakarta Sans"/>
              </a:rPr>
              <a:t>Hermes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712463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Cronogramas, riscos,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108960"/>
            <a:ext cx="34290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7355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Plus Jakarta Sans"/>
              </a:rPr>
              <a:t>Hermes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12463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Leads, follow-ups,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17720"/>
            <a:ext cx="34290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8231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Plus Jakarta Sans"/>
              </a:rPr>
              <a:t>Hermes 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21224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Código, code review, testes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617720"/>
            <a:ext cx="34290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78231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Plus Jakarta Sans"/>
              </a:rPr>
              <a:t>Hermes Legal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221224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Contratos e compliance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4617720"/>
            <a:ext cx="342900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782312"/>
            <a:ext cx="2880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  <a:latin typeface="Plus Jakarta Sans"/>
              </a:rPr>
              <a:t>Hermes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221224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B6472"/>
                </a:solidFill>
                <a:latin typeface="Inter"/>
              </a:rPr>
              <a:t>Fluxo de caixa e margem por projeto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457200"/>
            <a:ext cx="4023360" cy="4023360"/>
          </a:xfrm>
          <a:prstGeom prst="ellipse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55633" y="85953"/>
            <a:ext cx="2937052" cy="2937052"/>
          </a:xfrm>
          <a:prstGeom prst="ellipse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18904" y="649223"/>
            <a:ext cx="1810512" cy="1810512"/>
          </a:xfrm>
          <a:prstGeom prst="ellipse">
            <a:avLst/>
          </a:prstGeom>
          <a:solidFill>
            <a:srgbClr val="B3C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62057" y="1192377"/>
            <a:ext cx="724204" cy="724204"/>
          </a:xfrm>
          <a:prstGeom prst="ellipse">
            <a:avLst/>
          </a:prstGeom>
          <a:solidFill>
            <a:srgbClr val="8FA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457200"/>
            <a:ext cx="621792" cy="621792"/>
          </a:xfrm>
          <a:prstGeom prst="ellipse">
            <a:avLst/>
          </a:prstGeom>
          <a:solidFill>
            <a:srgbClr val="D0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4021" y="541141"/>
            <a:ext cx="453908" cy="453908"/>
          </a:xfrm>
          <a:prstGeom prst="ellipse">
            <a:avLst/>
          </a:prstGeom>
          <a:solidFill>
            <a:srgbClr val="AFB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1072" y="628192"/>
            <a:ext cx="279806" cy="279806"/>
          </a:xfrm>
          <a:prstGeom prst="ellipse">
            <a:avLst/>
          </a:prstGeom>
          <a:solidFill>
            <a:srgbClr val="5D7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5014" y="712134"/>
            <a:ext cx="111922" cy="111922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47548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01828"/>
                </a:solidFill>
                <a:latin typeface="Instrument Serif"/>
              </a:rPr>
              <a:t>Deep </a:t>
            </a:r>
            <a:r>
              <a:rPr sz="1650" b="0" i="1">
                <a:solidFill>
                  <a:srgbClr val="5B6472"/>
                </a:solidFill>
                <a:latin typeface="Instrument Serif"/>
              </a:rP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</a:rPr>
              <a:t>PRÓXIMOS PASSOS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932688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01828"/>
                </a:solidFill>
                <a:latin typeface="Plus Jakarta Sans"/>
              </a:rPr>
              <a:t>Conta o seu desafio. A gente mapeia onde a IA</a:t>
            </a:r>
            <a:r>
              <a:rPr sz="2800" b="0" i="1">
                <a:solidFill>
                  <a:srgbClr val="1D4ED8"/>
                </a:solidFill>
                <a:latin typeface="Instrument Serif"/>
              </a:rPr>
              <a:t> agrega.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342900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9AA3B2"/>
                </a:solidFill>
                <a:latin typeface="JetBrains Mon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Plus Jakarta Sans"/>
              </a:rPr>
              <a:t>Diagnóstico gratuito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Entendemos seu processo e suas dores. Sem compromisso, sem fórmula pronta.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108960"/>
            <a:ext cx="342900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3832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9AA3B2"/>
                </a:solidFill>
                <a:latin typeface="JetBrains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97763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Plus Jakarta Sans"/>
              </a:rPr>
              <a:t>Mapa de impacto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52628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Onde a IA agrega valor no seu negócio, com priorização por impacto e viabilidade.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3108960"/>
            <a:ext cx="342900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38328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9AA3B2"/>
                </a:solidFill>
                <a:latin typeface="JetBrains Mon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97763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01828"/>
                </a:solidFill>
                <a:latin typeface="Plus Jakarta Sans"/>
              </a:rPr>
              <a:t>Proposta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526280"/>
            <a:ext cx="2880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B6472"/>
                </a:solidFill>
                <a:latin typeface="Inter"/>
              </a:rPr>
              <a:t>Ferramentas nos pontos de impacto, com resultado mensurável e cronograma.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B6472"/>
                </a:solidFill>
                <a:latin typeface="Inter"/>
              </a:rPr>
              <a:t>deepblue.company  ·  </a:t>
            </a:r>
            <a:r>
              <a:rPr sz="1300" b="1" i="0">
                <a:solidFill>
                  <a:srgbClr val="1D4ED8"/>
                </a:solidFill>
                <a:latin typeface="Inter"/>
              </a:rPr>
              <a:t>formly.ink</a:t>
            </a:r>
            <a:r>
              <a:rPr sz="1300" b="0" i="0">
                <a:solidFill>
                  <a:srgbClr val="5B6472"/>
                </a:solidFill>
                <a:latin typeface="Inter"/>
              </a:rPr>
              <a:t>  ·  </a:t>
            </a:r>
            <a:r>
              <a:rPr sz="1300" b="1" i="0">
                <a:solidFill>
                  <a:srgbClr val="1D4ED8"/>
                </a:solidFill>
                <a:latin typeface="Inter"/>
              </a:rPr>
              <a:t>app.mcp-brain.com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73952"/>
            <a:ext cx="10908792" cy="10972"/>
          </a:xfrm>
          <a:prstGeom prst="rect">
            <a:avLst/>
          </a:prstGeom>
          <a:solidFill>
            <a:srgbClr val="E2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472"/>
                </a:solidFill>
                <a:latin typeface="Inter"/>
              </a:rPr>
              <a:t>Deep Blue · deepblue.company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0332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472"/>
                </a:solidFill>
                <a:latin typeface="Inter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